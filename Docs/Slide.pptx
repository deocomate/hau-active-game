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Helvetica World" panose="020B0604020202020204" charset="-128"/>
      <p:regular r:id="rId17"/>
    </p:embeddedFont>
    <p:embeddedFont>
      <p:font typeface="Helvetica World Bold" panose="020B0604020202020204" charset="-128"/>
      <p:regular r:id="rId18"/>
    </p:embeddedFont>
    <p:embeddedFont>
      <p:font typeface="Source Sans Pro" panose="020F0502020204030204" pitchFamily="34" charset="0"/>
      <p:regular r:id="rId19"/>
    </p:embeddedFont>
    <p:embeddedFont>
      <p:font typeface="Source Sans Pr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3958" y="2045069"/>
            <a:ext cx="13306533" cy="9008027"/>
            <a:chOff x="0" y="0"/>
            <a:chExt cx="3504601" cy="23724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0336617" y="3340821"/>
            <a:ext cx="2156956" cy="1027496"/>
          </a:xfrm>
          <a:custGeom>
            <a:avLst/>
            <a:gdLst/>
            <a:ahLst/>
            <a:cxnLst/>
            <a:rect l="l" t="t" r="r" b="b"/>
            <a:pathLst>
              <a:path w="2156956" h="1027496">
                <a:moveTo>
                  <a:pt x="2156957" y="0"/>
                </a:moveTo>
                <a:lnTo>
                  <a:pt x="0" y="0"/>
                </a:lnTo>
                <a:lnTo>
                  <a:pt x="0" y="1027496"/>
                </a:lnTo>
                <a:lnTo>
                  <a:pt x="2156957" y="1027496"/>
                </a:lnTo>
                <a:lnTo>
                  <a:pt x="215695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09317" y="4473092"/>
            <a:ext cx="11284257" cy="2600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308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ĐỒ ÁN TỐT NGHIỆP KỸ SƯ</a:t>
            </a:r>
          </a:p>
          <a:p>
            <a:pPr algn="l">
              <a:lnSpc>
                <a:spcPts val="2564"/>
              </a:lnSpc>
            </a:pPr>
            <a:endParaRPr lang="en-US" sz="3089" b="1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4942"/>
              </a:lnSpc>
            </a:pPr>
            <a:r>
              <a:rPr lang="en-US" sz="308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ĐỀ TÀI: XÂY DỰNG GAME VẬN ĐỘNG HAU ACTIVE TRÊN NỀN TẢNG UNITY 3D ỨNG DỤNG THỊ GIÁC MÁY TÍNH ĐỂ ĐIỀU KHIỂN NHÂN VẬT BẰNG CỬ CHỈ THỜI GIAN THỰC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9317" y="7949255"/>
            <a:ext cx="8184666" cy="895350"/>
            <a:chOff x="0" y="0"/>
            <a:chExt cx="10912887" cy="1193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668655"/>
              <a:ext cx="2758555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Sinh viên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66522" y="668655"/>
              <a:ext cx="5946365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Nguyễn Vũ Minh Long 2155010151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70218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Giảng viên hướng dẫn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6522" y="-47625"/>
              <a:ext cx="5946365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TS. Nguyễn Quốc Huy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3958" y="261073"/>
            <a:ext cx="7238566" cy="1535253"/>
            <a:chOff x="0" y="0"/>
            <a:chExt cx="9651422" cy="20470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6143" cy="2047004"/>
            </a:xfrm>
            <a:custGeom>
              <a:avLst/>
              <a:gdLst/>
              <a:ahLst/>
              <a:cxnLst/>
              <a:rect l="l" t="t" r="r" b="b"/>
              <a:pathLst>
                <a:path w="2056143" h="2047004">
                  <a:moveTo>
                    <a:pt x="0" y="0"/>
                  </a:moveTo>
                  <a:lnTo>
                    <a:pt x="2056143" y="0"/>
                  </a:lnTo>
                  <a:lnTo>
                    <a:pt x="2056143" y="2047004"/>
                  </a:lnTo>
                  <a:lnTo>
                    <a:pt x="0" y="2047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2381137" y="410304"/>
              <a:ext cx="7270285" cy="1178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 b="1">
                  <a:solidFill>
                    <a:srgbClr val="101D56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TRƯỜNG ĐẠI HỌC KIẾN TRÚC HÀ NỘI</a:t>
              </a:r>
            </a:p>
            <a:p>
              <a:pPr algn="l">
                <a:lnSpc>
                  <a:spcPts val="3639"/>
                </a:lnSpc>
              </a:pPr>
              <a:r>
                <a:rPr lang="en-US" sz="2599" b="1">
                  <a:solidFill>
                    <a:srgbClr val="101D56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KHOA CÔNG NGHỆ THÔNG TIN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F591A4-28A1-F63E-D1EE-DEEBF8E111A0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323615"/>
            <a:ext cx="5957146" cy="4772361"/>
          </a:xfrm>
          <a:custGeom>
            <a:avLst/>
            <a:gdLst/>
            <a:ahLst/>
            <a:cxnLst/>
            <a:rect l="l" t="t" r="r" b="b"/>
            <a:pathLst>
              <a:path w="5957146" h="4772361">
                <a:moveTo>
                  <a:pt x="0" y="0"/>
                </a:moveTo>
                <a:lnTo>
                  <a:pt x="5957146" y="0"/>
                </a:lnTo>
                <a:lnTo>
                  <a:pt x="5957146" y="4772360"/>
                </a:lnTo>
                <a:lnTo>
                  <a:pt x="0" y="47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18693" y="2323615"/>
            <a:ext cx="6487369" cy="4772361"/>
          </a:xfrm>
          <a:custGeom>
            <a:avLst/>
            <a:gdLst/>
            <a:ahLst/>
            <a:cxnLst/>
            <a:rect l="l" t="t" r="r" b="b"/>
            <a:pathLst>
              <a:path w="6487369" h="4772361">
                <a:moveTo>
                  <a:pt x="0" y="0"/>
                </a:moveTo>
                <a:lnTo>
                  <a:pt x="6487369" y="0"/>
                </a:lnTo>
                <a:lnTo>
                  <a:pt x="6487369" y="4772360"/>
                </a:lnTo>
                <a:lnTo>
                  <a:pt x="0" y="4772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7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THỰC TRẠNG THỤ ĐỘNG VÀ RÀO CẢN PHẦN CỨNG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677150"/>
            <a:ext cx="5957146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101D5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Vấn đề:</a:t>
            </a:r>
            <a:r>
              <a:rPr lang="en-US" sz="300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Sinh viên IT đối mặt với lối sống tĩnh tại, thiếu vận động do đặc thù ngành học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65455" y="7677000"/>
            <a:ext cx="7793845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Các game vận động (Exergames) hiện tại yêu cầu thiết bị phần cứng đắt tiền (console, tay cầm cảm biến chuyên dụng) và không gian rộng rãi.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41049-9229-25B4-4869-94FA4589DC1E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416667"/>
            <a:ext cx="16230600" cy="4057650"/>
          </a:xfrm>
          <a:custGeom>
            <a:avLst/>
            <a:gdLst/>
            <a:ahLst/>
            <a:cxnLst/>
            <a:rect l="l" t="t" r="r" b="b"/>
            <a:pathLst>
              <a:path w="16230600" h="4057650">
                <a:moveTo>
                  <a:pt x="0" y="0"/>
                </a:moveTo>
                <a:lnTo>
                  <a:pt x="16230600" y="0"/>
                </a:lnTo>
                <a:lnTo>
                  <a:pt x="16230600" y="4057650"/>
                </a:lnTo>
                <a:lnTo>
                  <a:pt x="0" y="4057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28700" y="7205694"/>
            <a:ext cx="16230600" cy="2052606"/>
          </a:xfrm>
          <a:custGeom>
            <a:avLst/>
            <a:gdLst/>
            <a:ahLst/>
            <a:cxnLst/>
            <a:rect l="l" t="t" r="r" b="b"/>
            <a:pathLst>
              <a:path w="16230600" h="2052606">
                <a:moveTo>
                  <a:pt x="0" y="0"/>
                </a:moveTo>
                <a:lnTo>
                  <a:pt x="16230600" y="0"/>
                </a:lnTo>
                <a:lnTo>
                  <a:pt x="16230600" y="2052606"/>
                </a:lnTo>
                <a:lnTo>
                  <a:pt x="0" y="2052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6" b="-262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GIẢI PHÁP HAU ACTIVE: KHÔNG CHẠM - KHÔNG THIẾT BỊ PHỤ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F4F77-A729-C461-0EBC-D8CA3629B1DF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340007"/>
            <a:ext cx="16230600" cy="6918293"/>
          </a:xfrm>
          <a:custGeom>
            <a:avLst/>
            <a:gdLst/>
            <a:ahLst/>
            <a:cxnLst/>
            <a:rect l="l" t="t" r="r" b="b"/>
            <a:pathLst>
              <a:path w="16230600" h="6918293">
                <a:moveTo>
                  <a:pt x="0" y="0"/>
                </a:moveTo>
                <a:lnTo>
                  <a:pt x="16230600" y="0"/>
                </a:lnTo>
                <a:lnTo>
                  <a:pt x="16230600" y="6918293"/>
                </a:lnTo>
                <a:lnTo>
                  <a:pt x="0" y="6918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CÔNG NGHỆ SỬ DỤNG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9B20-A69F-6862-EC6C-2838AE8E5257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652314"/>
            <a:ext cx="16230600" cy="2982373"/>
          </a:xfrm>
          <a:custGeom>
            <a:avLst/>
            <a:gdLst/>
            <a:ahLst/>
            <a:cxnLst/>
            <a:rect l="l" t="t" r="r" b="b"/>
            <a:pathLst>
              <a:path w="16230600" h="2982373">
                <a:moveTo>
                  <a:pt x="0" y="0"/>
                </a:moveTo>
                <a:lnTo>
                  <a:pt x="16230600" y="0"/>
                </a:lnTo>
                <a:lnTo>
                  <a:pt x="16230600" y="2982372"/>
                </a:lnTo>
                <a:lnTo>
                  <a:pt x="0" y="2982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KIẾN TRÚC GIAO TIẾP THỜI GIAN THỰC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2BB65-C463-9630-BD47-C95CA12E32EB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048" y="1904746"/>
            <a:ext cx="15319904" cy="7353554"/>
          </a:xfrm>
          <a:custGeom>
            <a:avLst/>
            <a:gdLst/>
            <a:ahLst/>
            <a:cxnLst/>
            <a:rect l="l" t="t" r="r" b="b"/>
            <a:pathLst>
              <a:path w="15319904" h="7353554">
                <a:moveTo>
                  <a:pt x="0" y="0"/>
                </a:moveTo>
                <a:lnTo>
                  <a:pt x="15319904" y="0"/>
                </a:lnTo>
                <a:lnTo>
                  <a:pt x="15319904" y="7353554"/>
                </a:lnTo>
                <a:lnTo>
                  <a:pt x="0" y="7353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19550" y="1904746"/>
            <a:ext cx="6765346" cy="4463733"/>
          </a:xfrm>
          <a:custGeom>
            <a:avLst/>
            <a:gdLst/>
            <a:ahLst/>
            <a:cxnLst/>
            <a:rect l="l" t="t" r="r" b="b"/>
            <a:pathLst>
              <a:path w="6765346" h="4463733">
                <a:moveTo>
                  <a:pt x="0" y="0"/>
                </a:moveTo>
                <a:lnTo>
                  <a:pt x="6765346" y="0"/>
                </a:lnTo>
                <a:lnTo>
                  <a:pt x="6765346" y="4463733"/>
                </a:lnTo>
                <a:lnTo>
                  <a:pt x="0" y="4463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THUẬT TOÁN NHẬN DIỆN TOÀN THÂN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5E34C-D613-74BA-8F5D-704AF955B170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24302" y="2245399"/>
            <a:ext cx="5434998" cy="7012901"/>
          </a:xfrm>
          <a:custGeom>
            <a:avLst/>
            <a:gdLst/>
            <a:ahLst/>
            <a:cxnLst/>
            <a:rect l="l" t="t" r="r" b="b"/>
            <a:pathLst>
              <a:path w="5434998" h="7012901">
                <a:moveTo>
                  <a:pt x="0" y="0"/>
                </a:moveTo>
                <a:lnTo>
                  <a:pt x="5434998" y="0"/>
                </a:lnTo>
                <a:lnTo>
                  <a:pt x="5434998" y="7012901"/>
                </a:lnTo>
                <a:lnTo>
                  <a:pt x="0" y="7012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6812" y="2934169"/>
            <a:ext cx="9996205" cy="5635360"/>
          </a:xfrm>
          <a:custGeom>
            <a:avLst/>
            <a:gdLst/>
            <a:ahLst/>
            <a:cxnLst/>
            <a:rect l="l" t="t" r="r" b="b"/>
            <a:pathLst>
              <a:path w="9996205" h="5635360">
                <a:moveTo>
                  <a:pt x="0" y="0"/>
                </a:moveTo>
                <a:lnTo>
                  <a:pt x="9996204" y="0"/>
                </a:lnTo>
                <a:lnTo>
                  <a:pt x="9996204" y="5635361"/>
                </a:lnTo>
                <a:lnTo>
                  <a:pt x="0" y="5635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THUẬT TOÁN ĐIỀU HƯỚNG CHUYỂN ĐỘNG NHÂN VẬT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8038B-A5A2-4025-BD1A-1D6F4B04D551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78531" y="2447144"/>
            <a:ext cx="5216986" cy="6288792"/>
          </a:xfrm>
          <a:custGeom>
            <a:avLst/>
            <a:gdLst/>
            <a:ahLst/>
            <a:cxnLst/>
            <a:rect l="l" t="t" r="r" b="b"/>
            <a:pathLst>
              <a:path w="5216986" h="6288792">
                <a:moveTo>
                  <a:pt x="0" y="0"/>
                </a:moveTo>
                <a:lnTo>
                  <a:pt x="5216986" y="0"/>
                </a:lnTo>
                <a:lnTo>
                  <a:pt x="5216986" y="6288792"/>
                </a:lnTo>
                <a:lnTo>
                  <a:pt x="0" y="6288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9961" y="2447144"/>
            <a:ext cx="8135505" cy="6120288"/>
          </a:xfrm>
          <a:custGeom>
            <a:avLst/>
            <a:gdLst/>
            <a:ahLst/>
            <a:cxnLst/>
            <a:rect l="l" t="t" r="r" b="b"/>
            <a:pathLst>
              <a:path w="8135505" h="6120288">
                <a:moveTo>
                  <a:pt x="0" y="0"/>
                </a:moveTo>
                <a:lnTo>
                  <a:pt x="8135505" y="0"/>
                </a:lnTo>
                <a:lnTo>
                  <a:pt x="8135505" y="6120288"/>
                </a:lnTo>
                <a:lnTo>
                  <a:pt x="0" y="6120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THUẬT TOÁN NHẬN DIỆN BÀN TAY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E9F03-EF56-70AF-D4F0-FB405171B2E8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374831"/>
            <a:ext cx="16230600" cy="6495909"/>
          </a:xfrm>
          <a:custGeom>
            <a:avLst/>
            <a:gdLst/>
            <a:ahLst/>
            <a:cxnLst/>
            <a:rect l="l" t="t" r="r" b="b"/>
            <a:pathLst>
              <a:path w="16230600" h="6495909">
                <a:moveTo>
                  <a:pt x="0" y="0"/>
                </a:moveTo>
                <a:lnTo>
                  <a:pt x="16230600" y="0"/>
                </a:lnTo>
                <a:lnTo>
                  <a:pt x="16230600" y="6495909"/>
                </a:lnTo>
                <a:lnTo>
                  <a:pt x="0" y="6495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96" b="-59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KIẾN TRÚC GAMEPLAY THỔNG THỂ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14FF7-74CA-07E4-46AA-F30E300B4F23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CHẾ ĐỘ CỐT LÕI: CHẠY VÔ TẬN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2359545"/>
            <a:ext cx="16230600" cy="4869180"/>
          </a:xfrm>
          <a:custGeom>
            <a:avLst/>
            <a:gdLst/>
            <a:ahLst/>
            <a:cxnLst/>
            <a:rect l="l" t="t" r="r" b="b"/>
            <a:pathLst>
              <a:path w="16230600" h="4869180">
                <a:moveTo>
                  <a:pt x="0" y="0"/>
                </a:moveTo>
                <a:lnTo>
                  <a:pt x="16230600" y="0"/>
                </a:lnTo>
                <a:lnTo>
                  <a:pt x="16230600" y="4869180"/>
                </a:lnTo>
                <a:lnTo>
                  <a:pt x="0" y="4869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18012" y="7340080"/>
            <a:ext cx="14651977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1">
                <a:solidFill>
                  <a:srgbClr val="101D5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Vận động:</a:t>
            </a:r>
            <a:r>
              <a:rPr lang="en-US" sz="3499">
                <a:solidFill>
                  <a:srgbClr val="101D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Ép người chơi liên tục đổi làn nhảy cao, và squat thấp để sống sót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87563-32D1-FF95-19F7-561D98F3AB01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34854" y="2663800"/>
            <a:ext cx="7824446" cy="6352251"/>
          </a:xfrm>
          <a:custGeom>
            <a:avLst/>
            <a:gdLst/>
            <a:ahLst/>
            <a:cxnLst/>
            <a:rect l="l" t="t" r="r" b="b"/>
            <a:pathLst>
              <a:path w="7824446" h="6352251">
                <a:moveTo>
                  <a:pt x="0" y="0"/>
                </a:moveTo>
                <a:lnTo>
                  <a:pt x="7824446" y="0"/>
                </a:lnTo>
                <a:lnTo>
                  <a:pt x="7824446" y="6352251"/>
                </a:lnTo>
                <a:lnTo>
                  <a:pt x="0" y="6352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63800"/>
            <a:ext cx="8068508" cy="6352251"/>
          </a:xfrm>
          <a:custGeom>
            <a:avLst/>
            <a:gdLst/>
            <a:ahLst/>
            <a:cxnLst/>
            <a:rect l="l" t="t" r="r" b="b"/>
            <a:pathLst>
              <a:path w="8068508" h="6352251">
                <a:moveTo>
                  <a:pt x="0" y="0"/>
                </a:moveTo>
                <a:lnTo>
                  <a:pt x="8068508" y="0"/>
                </a:lnTo>
                <a:lnTo>
                  <a:pt x="8068508" y="6352251"/>
                </a:lnTo>
                <a:lnTo>
                  <a:pt x="0" y="6352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934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CHẾ ĐỘ MINI-GAME: CHÉM VẬT THỂ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360F7-8E6E-A5F4-35AB-68F81DB7F83D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56507" y="2242539"/>
            <a:ext cx="7268985" cy="6567044"/>
          </a:xfrm>
          <a:custGeom>
            <a:avLst/>
            <a:gdLst/>
            <a:ahLst/>
            <a:cxnLst/>
            <a:rect l="l" t="t" r="r" b="b"/>
            <a:pathLst>
              <a:path w="7268985" h="6567044">
                <a:moveTo>
                  <a:pt x="0" y="0"/>
                </a:moveTo>
                <a:lnTo>
                  <a:pt x="7268985" y="0"/>
                </a:lnTo>
                <a:lnTo>
                  <a:pt x="7268985" y="6567044"/>
                </a:lnTo>
                <a:lnTo>
                  <a:pt x="0" y="6567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2508" y="2452453"/>
            <a:ext cx="7934052" cy="6357130"/>
          </a:xfrm>
          <a:custGeom>
            <a:avLst/>
            <a:gdLst/>
            <a:ahLst/>
            <a:cxnLst/>
            <a:rect l="l" t="t" r="r" b="b"/>
            <a:pathLst>
              <a:path w="7934052" h="6357130">
                <a:moveTo>
                  <a:pt x="0" y="0"/>
                </a:moveTo>
                <a:lnTo>
                  <a:pt x="7934052" y="0"/>
                </a:lnTo>
                <a:lnTo>
                  <a:pt x="7934052" y="6357130"/>
                </a:lnTo>
                <a:lnTo>
                  <a:pt x="0" y="6357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315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CHẾ ĐỘ MINI-GAME: CHÉM VẬT THỂ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73A01-607E-F91A-897E-527334265837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76000" y="2062678"/>
            <a:ext cx="8936000" cy="4356300"/>
          </a:xfrm>
          <a:custGeom>
            <a:avLst/>
            <a:gdLst/>
            <a:ahLst/>
            <a:cxnLst/>
            <a:rect l="l" t="t" r="r" b="b"/>
            <a:pathLst>
              <a:path w="8936000" h="4356300">
                <a:moveTo>
                  <a:pt x="0" y="0"/>
                </a:moveTo>
                <a:lnTo>
                  <a:pt x="8936000" y="0"/>
                </a:lnTo>
                <a:lnTo>
                  <a:pt x="8936000" y="4356300"/>
                </a:lnTo>
                <a:lnTo>
                  <a:pt x="0" y="435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67759" y="6799978"/>
            <a:ext cx="10152483" cy="2461934"/>
          </a:xfrm>
          <a:custGeom>
            <a:avLst/>
            <a:gdLst/>
            <a:ahLst/>
            <a:cxnLst/>
            <a:rect l="l" t="t" r="r" b="b"/>
            <a:pathLst>
              <a:path w="10152483" h="2461934">
                <a:moveTo>
                  <a:pt x="0" y="0"/>
                </a:moveTo>
                <a:lnTo>
                  <a:pt x="10152482" y="0"/>
                </a:lnTo>
                <a:lnTo>
                  <a:pt x="10152482" y="2461934"/>
                </a:lnTo>
                <a:lnTo>
                  <a:pt x="0" y="2461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56" t="-44761" r="-482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01D5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THIẾT KẾ MÔI TRƯỜNG VÀ TỐI ƯU HÓA TÀI NGUYÊN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8D761-3F79-6C85-876B-81D261849A66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92071" y="0"/>
            <a:ext cx="18672141" cy="3351483"/>
            <a:chOff x="0" y="0"/>
            <a:chExt cx="4917766" cy="8826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17766" cy="882695"/>
            </a:xfrm>
            <a:custGeom>
              <a:avLst/>
              <a:gdLst/>
              <a:ahLst/>
              <a:cxnLst/>
              <a:rect l="l" t="t" r="r" b="b"/>
              <a:pathLst>
                <a:path w="4917766" h="882695">
                  <a:moveTo>
                    <a:pt x="0" y="0"/>
                  </a:moveTo>
                  <a:lnTo>
                    <a:pt x="4917766" y="0"/>
                  </a:lnTo>
                  <a:lnTo>
                    <a:pt x="4917766" y="882695"/>
                  </a:lnTo>
                  <a:lnTo>
                    <a:pt x="0" y="882695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17766" cy="930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43885" y="3974605"/>
            <a:ext cx="4514559" cy="786227"/>
            <a:chOff x="0" y="0"/>
            <a:chExt cx="1189020" cy="2070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29555" y="3974605"/>
            <a:ext cx="4514559" cy="786227"/>
            <a:chOff x="0" y="0"/>
            <a:chExt cx="1189020" cy="2070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6720" y="6849343"/>
            <a:ext cx="4514559" cy="786227"/>
            <a:chOff x="0" y="0"/>
            <a:chExt cx="1189020" cy="2070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9020" cy="207072"/>
            </a:xfrm>
            <a:custGeom>
              <a:avLst/>
              <a:gdLst/>
              <a:ahLst/>
              <a:cxnLst/>
              <a:rect l="l" t="t" r="r" b="b"/>
              <a:pathLst>
                <a:path w="1189020" h="207072">
                  <a:moveTo>
                    <a:pt x="39442" y="0"/>
                  </a:moveTo>
                  <a:lnTo>
                    <a:pt x="1149578" y="0"/>
                  </a:lnTo>
                  <a:cubicBezTo>
                    <a:pt x="1160038" y="0"/>
                    <a:pt x="1170071" y="4156"/>
                    <a:pt x="1177467" y="11552"/>
                  </a:cubicBezTo>
                  <a:cubicBezTo>
                    <a:pt x="1184864" y="18949"/>
                    <a:pt x="1189020" y="28981"/>
                    <a:pt x="1189020" y="39442"/>
                  </a:cubicBezTo>
                  <a:lnTo>
                    <a:pt x="1189020" y="167630"/>
                  </a:lnTo>
                  <a:cubicBezTo>
                    <a:pt x="1189020" y="178091"/>
                    <a:pt x="1184864" y="188123"/>
                    <a:pt x="1177467" y="195520"/>
                  </a:cubicBezTo>
                  <a:cubicBezTo>
                    <a:pt x="1170071" y="202917"/>
                    <a:pt x="1160038" y="207072"/>
                    <a:pt x="1149578" y="207072"/>
                  </a:cubicBezTo>
                  <a:lnTo>
                    <a:pt x="39442" y="207072"/>
                  </a:lnTo>
                  <a:cubicBezTo>
                    <a:pt x="28981" y="207072"/>
                    <a:pt x="18949" y="202917"/>
                    <a:pt x="11552" y="195520"/>
                  </a:cubicBezTo>
                  <a:cubicBezTo>
                    <a:pt x="4156" y="188123"/>
                    <a:pt x="0" y="178091"/>
                    <a:pt x="0" y="167630"/>
                  </a:cubicBezTo>
                  <a:lnTo>
                    <a:pt x="0" y="39442"/>
                  </a:lnTo>
                  <a:cubicBezTo>
                    <a:pt x="0" y="28981"/>
                    <a:pt x="4156" y="18949"/>
                    <a:pt x="11552" y="11552"/>
                  </a:cubicBezTo>
                  <a:cubicBezTo>
                    <a:pt x="18949" y="4156"/>
                    <a:pt x="28981" y="0"/>
                    <a:pt x="394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89020" cy="254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601165" y="1542391"/>
            <a:ext cx="9085670" cy="119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TỔNG 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43885" y="4123895"/>
            <a:ext cx="4514559" cy="42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KỸ THUẬT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30401" y="4123895"/>
            <a:ext cx="3712867" cy="42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HIỆU NĂNG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95904" y="7092152"/>
            <a:ext cx="3096192" cy="33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23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SỨC KHỎE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44732" y="5083272"/>
            <a:ext cx="3712867" cy="100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Giao </a:t>
            </a:r>
            <a:r>
              <a:rPr lang="en-US" sz="2499" dirty="0" err="1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tiếp</a:t>
            </a: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TCP Socket </a:t>
            </a:r>
          </a:p>
          <a:p>
            <a:pPr algn="ctr">
              <a:lnSpc>
                <a:spcPts val="2624"/>
              </a:lnSpc>
            </a:pPr>
            <a:r>
              <a:rPr lang="en-US" sz="2499" dirty="0" err="1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đa</a:t>
            </a: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99" dirty="0" err="1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luồng</a:t>
            </a: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99" dirty="0" err="1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tốt</a:t>
            </a: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99" dirty="0" err="1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giữa</a:t>
            </a: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Python </a:t>
            </a:r>
          </a:p>
          <a:p>
            <a:pPr algn="ctr">
              <a:lnSpc>
                <a:spcPts val="2624"/>
              </a:lnSpc>
            </a:pPr>
            <a:r>
              <a:rPr lang="en-US" sz="2499" dirty="0" err="1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và</a:t>
            </a:r>
            <a:r>
              <a:rPr lang="en-US" sz="2499" dirty="0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Unity 3D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30401" y="5083272"/>
            <a:ext cx="3712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499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Duy trì &gt;30 FPS mượt mà trên phần cứng máy tính phổ thông, độ trễ thấp.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87567" y="7986421"/>
            <a:ext cx="3712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499">
                <a:solidFill>
                  <a:srgbClr val="3A6B9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Trò chơi hóa biến các bài tập Cardio, Squat thành giải trí, đốt cháy calo thực tế.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5674336" y="0"/>
            <a:ext cx="2613664" cy="2585152"/>
          </a:xfrm>
          <a:custGeom>
            <a:avLst/>
            <a:gdLst/>
            <a:ahLst/>
            <a:cxnLst/>
            <a:rect l="l" t="t" r="r" b="b"/>
            <a:pathLst>
              <a:path w="2613664" h="2585152">
                <a:moveTo>
                  <a:pt x="0" y="0"/>
                </a:moveTo>
                <a:lnTo>
                  <a:pt x="2613664" y="0"/>
                </a:lnTo>
                <a:lnTo>
                  <a:pt x="2613664" y="2585152"/>
                </a:lnTo>
                <a:lnTo>
                  <a:pt x="0" y="2585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53464C-7136-0F1F-2F88-A1DADC281B2B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1" r="-319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57668" y="639487"/>
            <a:ext cx="13306533" cy="9008027"/>
            <a:chOff x="0" y="0"/>
            <a:chExt cx="3504601" cy="23724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846470" y="3778468"/>
            <a:ext cx="7804791" cy="5210225"/>
          </a:xfrm>
          <a:custGeom>
            <a:avLst/>
            <a:gdLst/>
            <a:ahLst/>
            <a:cxnLst/>
            <a:rect l="l" t="t" r="r" b="b"/>
            <a:pathLst>
              <a:path w="7804791" h="5210225">
                <a:moveTo>
                  <a:pt x="0" y="0"/>
                </a:moveTo>
                <a:lnTo>
                  <a:pt x="7804790" y="0"/>
                </a:lnTo>
                <a:lnTo>
                  <a:pt x="7804790" y="5210225"/>
                </a:lnTo>
                <a:lnTo>
                  <a:pt x="0" y="521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59" t="-13324" r="-16575" b="-1777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61288" y="1838889"/>
            <a:ext cx="9668622" cy="260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7"/>
              </a:lnSpc>
            </a:pPr>
            <a:r>
              <a:rPr lang="en-US" sz="50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 XIN CHÂN THÀNH CẢM ƠN</a:t>
            </a:r>
          </a:p>
          <a:p>
            <a:pPr algn="l">
              <a:lnSpc>
                <a:spcPts val="6907"/>
              </a:lnSpc>
            </a:pPr>
            <a:r>
              <a:rPr lang="en-US" sz="50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THẦY CÔ VÀ CÁC BẠN </a:t>
            </a:r>
          </a:p>
          <a:p>
            <a:pPr algn="l">
              <a:lnSpc>
                <a:spcPts val="6907"/>
              </a:lnSpc>
            </a:pPr>
            <a:r>
              <a:rPr lang="en-US" sz="50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ĐÃ LẮNG NGHE!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2EBB3-F337-59B2-E757-6277C6C511A4}"/>
              </a:ext>
            </a:extLst>
          </p:cNvPr>
          <p:cNvSpPr txBox="1"/>
          <p:nvPr/>
        </p:nvSpPr>
        <p:spPr>
          <a:xfrm>
            <a:off x="16165359" y="9639300"/>
            <a:ext cx="18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318</Words>
  <Application>Microsoft Office PowerPoint</Application>
  <PresentationFormat>Custom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Source Sans Pro</vt:lpstr>
      <vt:lpstr>Helvetica World</vt:lpstr>
      <vt:lpstr>Arial</vt:lpstr>
      <vt:lpstr>Calibri</vt:lpstr>
      <vt:lpstr>Helvetica World Bold</vt:lpstr>
      <vt:lpstr>Source Sans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KIẾN TRÚC HÀ NỘI KHOA CÔNG NGHỆ THÔNG TIN</dc:title>
  <cp:lastModifiedBy>Long Nguyễn</cp:lastModifiedBy>
  <cp:revision>2</cp:revision>
  <dcterms:created xsi:type="dcterms:W3CDTF">2006-08-16T00:00:00Z</dcterms:created>
  <dcterms:modified xsi:type="dcterms:W3CDTF">2026-03-07T18:02:06Z</dcterms:modified>
  <dc:identifier>DAHDAYNxHnE</dc:identifier>
</cp:coreProperties>
</file>